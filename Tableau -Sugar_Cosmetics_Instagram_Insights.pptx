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9.jpg" ContentType="image/jpg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5" r:id="rId6"/>
    <p:sldId id="261" r:id="rId7"/>
    <p:sldId id="262" r:id="rId8"/>
    <p:sldId id="263" r:id="rId9"/>
    <p:sldId id="264" r:id="rId10"/>
    <p:sldId id="265" r:id="rId11"/>
    <p:sldId id="266" r:id="rId12"/>
    <p:sldId id="276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6040"/>
    <a:srgbClr val="F77737"/>
    <a:srgbClr val="C13584"/>
    <a:srgbClr val="833AB4"/>
    <a:srgbClr val="405DE6"/>
    <a:srgbClr val="DB1B1B"/>
    <a:srgbClr val="FD1D1D"/>
    <a:srgbClr val="E1306C"/>
    <a:srgbClr val="CE1433"/>
    <a:srgbClr val="935E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86" y="3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Posts per Month</c:v>
                </c:pt>
              </c:strCache>
            </c:strRef>
          </c:tx>
          <c:spPr>
            <a:ln w="38100" cap="flat">
              <a:solidFill>
                <a:srgbClr val="C1358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13584"/>
              </a:solidFill>
              <a:ln w="9525" cap="flat">
                <a:solidFill>
                  <a:srgbClr val="C13584"/>
                </a:solidFill>
                <a:prstDash val="solid"/>
                <a:round/>
              </a:ln>
              <a:effectLst/>
            </c:spPr>
          </c:marker>
          <c:trendline>
            <c:trendlineType val="linear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Apr'24</c:v>
                </c:pt>
                <c:pt idx="1">
                  <c:v>May</c:v>
                </c:pt>
                <c:pt idx="2">
                  <c:v>Jun</c:v>
                </c:pt>
                <c:pt idx="3">
                  <c:v>Jul</c:v>
                </c:pt>
                <c:pt idx="4">
                  <c:v>Aug</c:v>
                </c:pt>
                <c:pt idx="5">
                  <c:v>Sep</c:v>
                </c:pt>
                <c:pt idx="6">
                  <c:v>Oct</c:v>
                </c:pt>
                <c:pt idx="7">
                  <c:v>Nov</c:v>
                </c:pt>
                <c:pt idx="8">
                  <c:v>Dec</c:v>
                </c:pt>
                <c:pt idx="9">
                  <c:v>Jan'25</c:v>
                </c:pt>
                <c:pt idx="10">
                  <c:v>Feb</c:v>
                </c:pt>
                <c:pt idx="11">
                  <c:v>Mar</c:v>
                </c:pt>
                <c:pt idx="12">
                  <c:v>Apr'25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1626</c:v>
                </c:pt>
                <c:pt idx="1">
                  <c:v>4250</c:v>
                </c:pt>
                <c:pt idx="2">
                  <c:v>4232</c:v>
                </c:pt>
                <c:pt idx="3">
                  <c:v>4121</c:v>
                </c:pt>
                <c:pt idx="4">
                  <c:v>4242</c:v>
                </c:pt>
                <c:pt idx="5">
                  <c:v>4160</c:v>
                </c:pt>
                <c:pt idx="6">
                  <c:v>4225</c:v>
                </c:pt>
                <c:pt idx="7">
                  <c:v>4075</c:v>
                </c:pt>
                <c:pt idx="8">
                  <c:v>4296</c:v>
                </c:pt>
                <c:pt idx="9">
                  <c:v>4244</c:v>
                </c:pt>
                <c:pt idx="10">
                  <c:v>3930</c:v>
                </c:pt>
                <c:pt idx="11">
                  <c:v>4139</c:v>
                </c:pt>
                <c:pt idx="12">
                  <c:v>2460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D60-412A-A126-5482F3A1B3D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579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579"/>
                    </a:solidFill>
                    <a:latin typeface="Arial"/>
                  </a:rPr>
                  <a:t>Posts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Likes</c:v>
                </c:pt>
              </c:strCache>
            </c:strRef>
          </c:tx>
          <c:spPr>
            <a:solidFill>
              <a:srgbClr val="E1306C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935E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AB4-4058-B6A6-250D74583662}"/>
              </c:ext>
            </c:extLst>
          </c:dPt>
          <c:dPt>
            <c:idx val="1"/>
            <c:invertIfNegative val="0"/>
            <c:bubble3D val="0"/>
            <c:spPr>
              <a:solidFill>
                <a:srgbClr val="00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0AB4-4058-B6A6-250D74583662}"/>
              </c:ext>
            </c:extLst>
          </c:dPt>
          <c:dPt>
            <c:idx val="2"/>
            <c:invertIfNegative val="0"/>
            <c:bubble3D val="0"/>
            <c:spPr>
              <a:solidFill>
                <a:srgbClr val="FD1D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B4-4058-B6A6-250D74583662}"/>
              </c:ext>
            </c:extLst>
          </c:dPt>
          <c:dPt>
            <c:idx val="3"/>
            <c:invertIfNegative val="0"/>
            <c:bubble3D val="0"/>
            <c:spPr>
              <a:solidFill>
                <a:srgbClr val="00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0AB4-4058-B6A6-250D74583662}"/>
              </c:ext>
            </c:extLst>
          </c:dPt>
          <c:dPt>
            <c:idx val="4"/>
            <c:invertIfNegative val="0"/>
            <c:bubble3D val="0"/>
            <c:spPr>
              <a:solidFill>
                <a:srgbClr val="C135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B4-4058-B6A6-250D74583662}"/>
              </c:ext>
            </c:extLst>
          </c:dPt>
          <c:dPt>
            <c:idx val="5"/>
            <c:invertIfNegative val="0"/>
            <c:bubble3D val="0"/>
            <c:spPr>
              <a:solidFill>
                <a:srgbClr val="C135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0AB4-4058-B6A6-250D74583662}"/>
              </c:ext>
            </c:extLst>
          </c:dPt>
          <c:dPt>
            <c:idx val="6"/>
            <c:invertIfNegative val="0"/>
            <c:bubble3D val="0"/>
            <c:spPr>
              <a:solidFill>
                <a:srgbClr val="0070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B4-4058-B6A6-250D74583662}"/>
              </c:ext>
            </c:extLst>
          </c:dPt>
          <c:dPt>
            <c:idx val="7"/>
            <c:invertIfNegative val="0"/>
            <c:bubble3D val="0"/>
            <c:spPr>
              <a:solidFill>
                <a:srgbClr val="935E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0AB4-4058-B6A6-250D74583662}"/>
              </c:ext>
            </c:extLst>
          </c:dPt>
          <c:dPt>
            <c:idx val="8"/>
            <c:invertIfNegative val="0"/>
            <c:bubble3D val="0"/>
            <c:spPr>
              <a:solidFill>
                <a:srgbClr val="935E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B4-4058-B6A6-250D74583662}"/>
              </c:ext>
            </c:extLst>
          </c:dPt>
          <c:dPt>
            <c:idx val="9"/>
            <c:invertIfNegative val="0"/>
            <c:bubble3D val="0"/>
            <c:spPr>
              <a:solidFill>
                <a:srgbClr val="FD1D1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0AB4-4058-B6A6-250D74583662}"/>
              </c:ext>
            </c:extLst>
          </c:dPt>
          <c:cat>
            <c:strRef>
              <c:f>Sheet1!$A$2:$A$11</c:f>
              <c:strCache>
                <c:ptCount val="10"/>
                <c:pt idx="0">
                  <c:v>Reel #1</c:v>
                </c:pt>
                <c:pt idx="1">
                  <c:v>Image #1</c:v>
                </c:pt>
                <c:pt idx="2">
                  <c:v>Video #1</c:v>
                </c:pt>
                <c:pt idx="3">
                  <c:v>Image #2</c:v>
                </c:pt>
                <c:pt idx="4">
                  <c:v>Story #1</c:v>
                </c:pt>
                <c:pt idx="5">
                  <c:v>Story #2</c:v>
                </c:pt>
                <c:pt idx="6">
                  <c:v>Image #3</c:v>
                </c:pt>
                <c:pt idx="7">
                  <c:v>Reel #2</c:v>
                </c:pt>
                <c:pt idx="8">
                  <c:v>Reel #3</c:v>
                </c:pt>
                <c:pt idx="9">
                  <c:v>Video #2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11392</c:v>
                </c:pt>
                <c:pt idx="1">
                  <c:v>11343</c:v>
                </c:pt>
                <c:pt idx="2">
                  <c:v>11282</c:v>
                </c:pt>
                <c:pt idx="3">
                  <c:v>11248</c:v>
                </c:pt>
                <c:pt idx="4">
                  <c:v>11108</c:v>
                </c:pt>
                <c:pt idx="5">
                  <c:v>11083</c:v>
                </c:pt>
                <c:pt idx="6">
                  <c:v>11060</c:v>
                </c:pt>
                <c:pt idx="7">
                  <c:v>11052</c:v>
                </c:pt>
                <c:pt idx="8">
                  <c:v>11049</c:v>
                </c:pt>
                <c:pt idx="9">
                  <c:v>11043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9F1-4F69-AF53-AFBFF77BCB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579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579"/>
                    </a:solidFill>
                    <a:latin typeface="Arial"/>
                  </a:rPr>
                  <a:t>Likes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05D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16-42E5-A148-3E19992DEAA5}"/>
              </c:ext>
            </c:extLst>
          </c:dPt>
          <c:dPt>
            <c:idx val="1"/>
            <c:invertIfNegative val="0"/>
            <c:bubble3D val="0"/>
            <c:spPr>
              <a:solidFill>
                <a:srgbClr val="833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16-42E5-A148-3E19992DEAA5}"/>
              </c:ext>
            </c:extLst>
          </c:dPt>
          <c:dPt>
            <c:idx val="2"/>
            <c:invertIfNegative val="0"/>
            <c:bubble3D val="0"/>
            <c:spPr>
              <a:solidFill>
                <a:srgbClr val="C135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16-42E5-A148-3E19992DEAA5}"/>
              </c:ext>
            </c:extLst>
          </c:dPt>
          <c:dPt>
            <c:idx val="3"/>
            <c:invertIfNegative val="0"/>
            <c:bubble3D val="0"/>
            <c:spPr>
              <a:solidFill>
                <a:srgbClr val="C135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8-7816-42E5-A148-3E19992DEAA5}"/>
              </c:ext>
            </c:extLst>
          </c:dPt>
          <c:dPt>
            <c:idx val="4"/>
            <c:invertIfNegative val="0"/>
            <c:bubble3D val="0"/>
            <c:spPr>
              <a:solidFill>
                <a:srgbClr val="F56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16-42E5-A148-3E19992DEAA5}"/>
              </c:ext>
            </c:extLst>
          </c:dPt>
          <c:dPt>
            <c:idx val="5"/>
            <c:invertIfNegative val="0"/>
            <c:bubble3D val="0"/>
            <c:spPr>
              <a:solidFill>
                <a:srgbClr val="405DE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7816-42E5-A148-3E19992DEAA5}"/>
              </c:ext>
            </c:extLst>
          </c:dPt>
          <c:dPt>
            <c:idx val="6"/>
            <c:invertIfNegative val="0"/>
            <c:bubble3D val="0"/>
            <c:spPr>
              <a:solidFill>
                <a:srgbClr val="833A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7816-42E5-A148-3E19992DEAA5}"/>
              </c:ext>
            </c:extLst>
          </c:dPt>
          <c:dPt>
            <c:idx val="7"/>
            <c:invertIfNegative val="0"/>
            <c:bubble3D val="0"/>
            <c:spPr>
              <a:solidFill>
                <a:srgbClr val="F56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7816-42E5-A148-3E19992DEAA5}"/>
              </c:ext>
            </c:extLst>
          </c:dPt>
          <c:dPt>
            <c:idx val="8"/>
            <c:invertIfNegative val="0"/>
            <c:bubble3D val="0"/>
            <c:spPr>
              <a:solidFill>
                <a:srgbClr val="F56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16-42E5-A148-3E19992DEAA5}"/>
              </c:ext>
            </c:extLst>
          </c:dPt>
          <c:dPt>
            <c:idx val="9"/>
            <c:invertIfNegative val="0"/>
            <c:bubble3D val="0"/>
            <c:spPr>
              <a:solidFill>
                <a:srgbClr val="F56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0-7816-42E5-A148-3E19992DEAA5}"/>
              </c:ext>
            </c:extLst>
          </c:dPt>
          <c:cat>
            <c:strRef>
              <c:f>Sheet1!$A$2:$A$11</c:f>
              <c:strCache>
                <c:ptCount val="10"/>
                <c:pt idx="0">
                  <c:v>Image #1</c:v>
                </c:pt>
                <c:pt idx="1">
                  <c:v>Reel #1</c:v>
                </c:pt>
                <c:pt idx="2">
                  <c:v>Story #1</c:v>
                </c:pt>
                <c:pt idx="3">
                  <c:v>Story #2</c:v>
                </c:pt>
                <c:pt idx="4">
                  <c:v>Video #1</c:v>
                </c:pt>
                <c:pt idx="5">
                  <c:v>Image #2</c:v>
                </c:pt>
                <c:pt idx="6">
                  <c:v>Reel #2</c:v>
                </c:pt>
                <c:pt idx="7">
                  <c:v>Video #2</c:v>
                </c:pt>
                <c:pt idx="8">
                  <c:v>Video #3</c:v>
                </c:pt>
                <c:pt idx="9">
                  <c:v>Video #4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34.1</c:v>
                </c:pt>
                <c:pt idx="1">
                  <c:v>34.01</c:v>
                </c:pt>
                <c:pt idx="2">
                  <c:v>34.01</c:v>
                </c:pt>
                <c:pt idx="3">
                  <c:v>33.979999999999997</c:v>
                </c:pt>
                <c:pt idx="4">
                  <c:v>33.96</c:v>
                </c:pt>
                <c:pt idx="5">
                  <c:v>33.880000000000003</c:v>
                </c:pt>
                <c:pt idx="6">
                  <c:v>33.880000000000003</c:v>
                </c:pt>
                <c:pt idx="7">
                  <c:v>33.869999999999997</c:v>
                </c:pt>
                <c:pt idx="8">
                  <c:v>33.86</c:v>
                </c:pt>
                <c:pt idx="9">
                  <c:v>33.82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F9-4915-8F6D-ABE4D2B512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B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B6579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B6579"/>
                    </a:solidFill>
                    <a:latin typeface="Arial"/>
                  </a:rPr>
                  <a:t>Engagement Rate</a:t>
                </a:r>
              </a:p>
            </c:rich>
          </c:tx>
          <c:overlay val="0"/>
        </c:title>
        <c:numFmt formatCode="0.00%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Likes</c:v>
                </c:pt>
              </c:strCache>
            </c:strRef>
          </c:tx>
          <c:spPr>
            <a:solidFill>
              <a:srgbClr val="833AB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Image</c:v>
                </c:pt>
                <c:pt idx="1">
                  <c:v>Reel</c:v>
                </c:pt>
                <c:pt idx="2">
                  <c:v>Story</c:v>
                </c:pt>
                <c:pt idx="3">
                  <c:v>Video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2954</c:v>
                </c:pt>
                <c:pt idx="1">
                  <c:v>2960</c:v>
                </c:pt>
                <c:pt idx="2">
                  <c:v>2964</c:v>
                </c:pt>
                <c:pt idx="3">
                  <c:v>2941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232-4173-99B0-E466C4AC3C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Avg. Comments</c:v>
                </c:pt>
              </c:strCache>
            </c:strRef>
          </c:tx>
          <c:spPr>
            <a:solidFill>
              <a:srgbClr val="C1358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Image</c:v>
                </c:pt>
                <c:pt idx="1">
                  <c:v>Reel</c:v>
                </c:pt>
                <c:pt idx="2">
                  <c:v>Story</c:v>
                </c:pt>
                <c:pt idx="3">
                  <c:v>Video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385</c:v>
                </c:pt>
                <c:pt idx="1">
                  <c:v>390</c:v>
                </c:pt>
                <c:pt idx="2">
                  <c:v>388</c:v>
                </c:pt>
                <c:pt idx="3">
                  <c:v>382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232-4173-99B0-E466C4AC3C6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Avg. Saves</c:v>
                </c:pt>
              </c:strCache>
            </c:strRef>
          </c:tx>
          <c:spPr>
            <a:solidFill>
              <a:srgbClr val="FCAF45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Image</c:v>
                </c:pt>
                <c:pt idx="1">
                  <c:v>Reel</c:v>
                </c:pt>
                <c:pt idx="2">
                  <c:v>Story</c:v>
                </c:pt>
                <c:pt idx="3">
                  <c:v>Video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250</c:v>
                </c:pt>
                <c:pt idx="1">
                  <c:v>252</c:v>
                </c:pt>
                <c:pt idx="2">
                  <c:v>255</c:v>
                </c:pt>
                <c:pt idx="3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232-4173-99B0-E466C4AC3C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B1B3D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</c:v>
                </c:pt>
              </c:strCache>
            </c:strRef>
          </c:tx>
          <c:spPr>
            <a:solidFill>
              <a:srgbClr val="C13584"/>
            </a:solidFill>
            <a:effectLst/>
          </c:spPr>
          <c:invertIfNegative val="0"/>
          <c:trendline>
            <c:trendlineType val="linear"/>
            <c:dispRSqr val="0"/>
            <c:dispEq val="0"/>
          </c:trendline>
          <c:cat>
            <c:strRef>
              <c:f>Sheet1!$A$2:$A$8</c:f>
              <c:strCache>
                <c:ptCount val="7"/>
                <c:pt idx="0">
                  <c:v>Mon</c:v>
                </c:pt>
                <c:pt idx="1">
                  <c:v>Tue</c:v>
                </c:pt>
                <c:pt idx="2">
                  <c:v>Wed</c:v>
                </c:pt>
                <c:pt idx="3">
                  <c:v>Thu</c:v>
                </c:pt>
                <c:pt idx="4">
                  <c:v>Fri</c:v>
                </c:pt>
                <c:pt idx="5">
                  <c:v>Sat</c:v>
                </c:pt>
                <c:pt idx="6">
                  <c:v>Sun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18.48</c:v>
                </c:pt>
                <c:pt idx="1">
                  <c:v>18.57</c:v>
                </c:pt>
                <c:pt idx="2">
                  <c:v>18.63</c:v>
                </c:pt>
                <c:pt idx="3">
                  <c:v>18.48</c:v>
                </c:pt>
                <c:pt idx="4">
                  <c:v>18.57</c:v>
                </c:pt>
                <c:pt idx="5">
                  <c:v>18.600000000000001</c:v>
                </c:pt>
                <c:pt idx="6">
                  <c:v>18.420000000000002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310-4D0D-ADE5-DDF245012D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"/>
          <c:min val="1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</c:v>
                </c:pt>
              </c:strCache>
            </c:strRef>
          </c:tx>
          <c:spPr>
            <a:solidFill>
              <a:srgbClr val="F77737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#BoldLooks</c:v>
                </c:pt>
                <c:pt idx="1">
                  <c:v>#MakeupGoals</c:v>
                </c:pt>
                <c:pt idx="2">
                  <c:v>#VeganBeauty</c:v>
                </c:pt>
                <c:pt idx="3">
                  <c:v>#SugarCosmetics</c:v>
                </c:pt>
                <c:pt idx="4">
                  <c:v>#CrueltyFree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18.670000000000002</c:v>
                </c:pt>
                <c:pt idx="1">
                  <c:v>18.55</c:v>
                </c:pt>
                <c:pt idx="2">
                  <c:v>18.600000000000001</c:v>
                </c:pt>
                <c:pt idx="3">
                  <c:v>18.52</c:v>
                </c:pt>
                <c:pt idx="4">
                  <c:v>18.579999999999998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1C-424A-A996-70C9CE07E8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1B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9"/>
          <c:min val="1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57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589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10" Type="http://schemas.openxmlformats.org/officeDocument/2006/relationships/image" Target="../media/image14.png"/><Relationship Id="rId4" Type="http://schemas.openxmlformats.org/officeDocument/2006/relationships/image" Target="../media/image8.jp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5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2860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pic>
        <p:nvPicPr>
          <p:cNvPr id="4" name="Image 0" descr="assets/icon_heart_white.png"/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>
            <a:off x="822960" y="640080"/>
            <a:ext cx="384048" cy="384048"/>
          </a:xfrm>
          <a:prstGeom prst="rect">
            <a:avLst/>
          </a:prstGeom>
          <a:noFill/>
        </p:spPr>
      </p:pic>
      <p:pic>
        <p:nvPicPr>
          <p:cNvPr id="5" name="Image 1" descr="assets/icon_comment_white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1508760" y="640080"/>
            <a:ext cx="384048" cy="384048"/>
          </a:xfrm>
          <a:prstGeom prst="rect">
            <a:avLst/>
          </a:prstGeom>
        </p:spPr>
      </p:pic>
      <p:pic>
        <p:nvPicPr>
          <p:cNvPr id="6" name="Image 2" descr="assets/icon_share_white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2194560" y="640080"/>
            <a:ext cx="384048" cy="384048"/>
          </a:xfrm>
          <a:prstGeom prst="rect">
            <a:avLst/>
          </a:prstGeom>
        </p:spPr>
      </p:pic>
      <p:pic>
        <p:nvPicPr>
          <p:cNvPr id="7" name="Image 3" descr="assets/icon_bookmark_white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880360" y="640080"/>
            <a:ext cx="384048" cy="384048"/>
          </a:xfrm>
          <a:prstGeom prst="rect">
            <a:avLst/>
          </a:prstGeom>
        </p:spPr>
      </p:pic>
      <p:pic>
        <p:nvPicPr>
          <p:cNvPr id="8" name="Image 4" descr="assets/icon_eye_white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3566160" y="640080"/>
            <a:ext cx="384048" cy="38404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822960" y="5760720"/>
            <a:ext cx="7863840" cy="502920"/>
          </a:xfrm>
          <a:prstGeom prst="roundRect">
            <a:avLst>
              <a:gd name="adj" fmla="val 5090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6"/>
          <p:cNvSpPr txBox="1"/>
          <p:nvPr/>
        </p:nvSpPr>
        <p:spPr>
          <a:xfrm>
            <a:off x="822960" y="5760720"/>
            <a:ext cx="7863840" cy="502920"/>
          </a:xfrm>
          <a:prstGeom prst="rect">
            <a:avLst/>
          </a:prstGeom>
          <a:noFill/>
          <a:ln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POSTS   •   APR 2024 – APR 2025   •   TABLEAU DASHBOARD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B8D3B0-0ADB-91D3-C4E2-63FDF35C3401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 amt="25000"/>
          </a:blip>
          <a:stretch>
            <a:fillRect/>
          </a:stretch>
        </p:blipFill>
        <p:spPr>
          <a:xfrm>
            <a:off x="3496130" y="931238"/>
            <a:ext cx="5599028" cy="5599028"/>
          </a:xfrm>
          <a:prstGeom prst="rect">
            <a:avLst/>
          </a:prstGeom>
        </p:spPr>
      </p:pic>
      <p:sp>
        <p:nvSpPr>
          <p:cNvPr id="9" name="Text 2"/>
          <p:cNvSpPr txBox="1"/>
          <p:nvPr/>
        </p:nvSpPr>
        <p:spPr>
          <a:xfrm>
            <a:off x="822960" y="22860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 PERFORMANCE ANALYTICS</a:t>
            </a:r>
            <a:endParaRPr lang="en-US" sz="3900" dirty="0"/>
          </a:p>
        </p:txBody>
      </p:sp>
      <p:sp>
        <p:nvSpPr>
          <p:cNvPr id="10" name="Text 3"/>
          <p:cNvSpPr txBox="1"/>
          <p:nvPr/>
        </p:nvSpPr>
        <p:spPr>
          <a:xfrm>
            <a:off x="822960" y="309067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i="1" dirty="0">
                <a:solidFill>
                  <a:srgbClr val="FCAF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SUGAR COSMETICS</a:t>
            </a:r>
            <a:endParaRPr lang="en-US" sz="2500" dirty="0"/>
          </a:p>
        </p:txBody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8089D31B-0C84-2670-A317-E65475A564F3}"/>
              </a:ext>
            </a:extLst>
          </p:cNvPr>
          <p:cNvSpPr txBox="1"/>
          <p:nvPr/>
        </p:nvSpPr>
        <p:spPr>
          <a:xfrm>
            <a:off x="822960" y="3911492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review of engagement, reach, and content performance — with strategic recommendations for the next campaign cycle.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0A58E590-E458-BEBF-7890-7B1ABE7DDEC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5260931" y="756797"/>
            <a:ext cx="5599028" cy="559902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FD2BB29-991A-1363-ABBF-43D632C21D3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4206240" y="0"/>
            <a:ext cx="7985760" cy="68580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2A1454"/>
          </a:solidFill>
          <a:ln/>
        </p:spPr>
      </p:sp>
      <p:pic>
        <p:nvPicPr>
          <p:cNvPr id="4" name="Image 0" descr="assets/grad_squar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731520"/>
            <a:ext cx="914400" cy="914400"/>
          </a:xfrm>
          <a:prstGeom prst="ellipse">
            <a:avLst/>
          </a:prstGeom>
        </p:spPr>
      </p:pic>
      <p:pic>
        <p:nvPicPr>
          <p:cNvPr id="5" name="Image 1" descr="assets/icon_bulls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877824"/>
            <a:ext cx="621792" cy="6217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5800" y="18288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3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2900" dirty="0"/>
          </a:p>
          <a:p>
            <a:pPr marL="0" indent="0">
              <a:lnSpc>
                <a:spcPts val="33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OVERVIEW</a:t>
            </a:r>
            <a:endParaRPr lang="en-US" sz="290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580644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 |  Social Media Analytics  |  Business Intelligence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65836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u="sng" kern="0" spc="15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u="sng" dirty="0"/>
          </a:p>
        </p:txBody>
      </p:sp>
      <p:sp>
        <p:nvSpPr>
          <p:cNvPr id="9" name="Text 5"/>
          <p:cNvSpPr txBox="1"/>
          <p:nvPr/>
        </p:nvSpPr>
        <p:spPr>
          <a:xfrm>
            <a:off x="4663440" y="1024128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Sugar Cosmetics' Instagram performance and translate the findings into an interactive dashboard that supports strategic social media decisions.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4663440" y="2103120"/>
            <a:ext cx="244747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DECK IS ORGANIZED 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4663440" y="245059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10 project tasks gets its own slide: one chart, one key insight, and one clear recommendation — so every finding is easy to act on.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663440" y="3865578"/>
            <a:ext cx="457200" cy="457200"/>
          </a:xfrm>
          <a:prstGeom prst="ellipse">
            <a:avLst/>
          </a:prstGeom>
          <a:solidFill>
            <a:srgbClr val="F3EEFB"/>
          </a:solidFill>
          <a:ln/>
        </p:spPr>
      </p:sp>
      <p:pic>
        <p:nvPicPr>
          <p:cNvPr id="13" name="Image 2" descr="assets/icon_chart_purp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41164" y="3943302"/>
            <a:ext cx="301752" cy="3017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349240" y="388386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account performance through engagement and reach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663440" y="4523946"/>
            <a:ext cx="457200" cy="457200"/>
          </a:xfrm>
          <a:prstGeom prst="ellipse">
            <a:avLst/>
          </a:prstGeom>
          <a:solidFill>
            <a:srgbClr val="F3EEFB"/>
          </a:solidFill>
          <a:ln/>
        </p:spPr>
      </p:sp>
      <p:pic>
        <p:nvPicPr>
          <p:cNvPr id="16" name="Image 3" descr="assets/icon_video_pur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41164" y="4601670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349240" y="454223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trends in content performance across posts, reels &amp; stories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4663440" y="5182314"/>
            <a:ext cx="457200" cy="457200"/>
          </a:xfrm>
          <a:prstGeom prst="ellipse">
            <a:avLst/>
          </a:prstGeom>
          <a:solidFill>
            <a:srgbClr val="F3EEFB"/>
          </a:solidFill>
          <a:ln/>
        </p:spPr>
      </p:sp>
      <p:pic>
        <p:nvPicPr>
          <p:cNvPr id="19" name="Image 4" descr="assets/icon_clock_purp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41164" y="5260038"/>
            <a:ext cx="301752" cy="30175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349240" y="520060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the best-performing formats, hashtags and posting times</a:t>
            </a:r>
            <a:endParaRPr lang="en-US" sz="1400" dirty="0"/>
          </a:p>
        </p:txBody>
      </p:sp>
      <p:sp>
        <p:nvSpPr>
          <p:cNvPr id="21" name="Shape 14"/>
          <p:cNvSpPr/>
          <p:nvPr/>
        </p:nvSpPr>
        <p:spPr>
          <a:xfrm>
            <a:off x="4663440" y="5840682"/>
            <a:ext cx="457200" cy="457200"/>
          </a:xfrm>
          <a:prstGeom prst="ellipse">
            <a:avLst/>
          </a:prstGeom>
          <a:solidFill>
            <a:srgbClr val="F3EEFB"/>
          </a:solidFill>
          <a:ln/>
        </p:spPr>
      </p:sp>
      <p:pic>
        <p:nvPicPr>
          <p:cNvPr id="22" name="Image 5" descr="assets/icon_users_purpl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1164" y="5918406"/>
            <a:ext cx="301752" cy="30175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349240" y="585897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audience emotion and growth patterns</a:t>
            </a:r>
            <a:endParaRPr lang="en-US" sz="1400" dirty="0"/>
          </a:p>
        </p:txBody>
      </p:sp>
      <p:sp>
        <p:nvSpPr>
          <p:cNvPr id="24" name="Text 16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25" name="Text 17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327331CB-6540-BB2C-2245-2E022E975FE6}"/>
              </a:ext>
            </a:extLst>
          </p:cNvPr>
          <p:cNvSpPr txBox="1"/>
          <p:nvPr/>
        </p:nvSpPr>
        <p:spPr>
          <a:xfrm>
            <a:off x="4741164" y="3264213"/>
            <a:ext cx="149157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207249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71498" y="20661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48640" y="754385"/>
            <a:ext cx="269067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2500" b="1">
                <a:solidFill>
                  <a:srgbClr val="D370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r>
              <a:rPr lang="en-US" u="sng" dirty="0">
                <a:solidFill>
                  <a:srgbClr val="2A1454"/>
                </a:solidFill>
              </a:rPr>
              <a:t>KPI’S OVERVIEW</a:t>
            </a:r>
          </a:p>
        </p:txBody>
      </p:sp>
      <p:sp>
        <p:nvSpPr>
          <p:cNvPr id="7" name="Shape 5"/>
          <p:cNvSpPr/>
          <p:nvPr/>
        </p:nvSpPr>
        <p:spPr>
          <a:xfrm>
            <a:off x="548641" y="139139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98449" y="1610846"/>
            <a:ext cx="585216" cy="585216"/>
          </a:xfrm>
          <a:prstGeom prst="ellipse">
            <a:avLst/>
          </a:prstGeom>
          <a:solidFill>
            <a:srgbClr val="833AB4"/>
          </a:solidFill>
          <a:ln/>
        </p:spPr>
      </p:sp>
      <p:pic>
        <p:nvPicPr>
          <p:cNvPr id="9" name="Image 0" descr="assets/icon_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936" y="1710333"/>
            <a:ext cx="386243" cy="38624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1" y="230579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640081" y="287271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70633" y="139139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20441" y="1610846"/>
            <a:ext cx="585216" cy="585216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4" name="Image 1" descr="assets/icon_he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9928" y="1710333"/>
            <a:ext cx="386243" cy="38624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862073" y="230579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147.73M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2862073" y="287271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LIKES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992625" y="139139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742433" y="1610846"/>
            <a:ext cx="585216" cy="585216"/>
          </a:xfrm>
          <a:prstGeom prst="ellipse">
            <a:avLst/>
          </a:prstGeom>
          <a:solidFill>
            <a:srgbClr val="E1306C"/>
          </a:solidFill>
          <a:ln/>
        </p:spPr>
      </p:sp>
      <p:pic>
        <p:nvPicPr>
          <p:cNvPr id="19" name="Image 2" descr="assets/icon_commen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1920" y="1710333"/>
            <a:ext cx="386243" cy="3862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5084065" y="230579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18.46M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5084065" y="287271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COMMENTS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214617" y="139139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64425" y="1610846"/>
            <a:ext cx="585216" cy="585216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24" name="Image 3" descr="assets/icon_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3912" y="1710333"/>
            <a:ext cx="386243" cy="38624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306057" y="230579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987.42M</a:t>
            </a:r>
            <a:endParaRPr lang="en-US" sz="1900" dirty="0"/>
          </a:p>
        </p:txBody>
      </p:sp>
      <p:sp>
        <p:nvSpPr>
          <p:cNvPr id="26" name="Text 20"/>
          <p:cNvSpPr txBox="1"/>
          <p:nvPr/>
        </p:nvSpPr>
        <p:spPr>
          <a:xfrm>
            <a:off x="7306057" y="287271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9436609" y="1391390"/>
            <a:ext cx="2084832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186417" y="1610846"/>
            <a:ext cx="585216" cy="585216"/>
          </a:xfrm>
          <a:prstGeom prst="ellipse">
            <a:avLst/>
          </a:prstGeom>
          <a:solidFill>
            <a:srgbClr val="4A1D6B"/>
          </a:solidFill>
          <a:ln/>
        </p:spPr>
      </p:sp>
      <p:pic>
        <p:nvPicPr>
          <p:cNvPr id="29" name="Image 4" descr="assets/icon_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5904" y="1710333"/>
            <a:ext cx="386243" cy="386243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528049" y="2305790"/>
            <a:ext cx="1901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18.55%</a:t>
            </a:r>
            <a:endParaRPr lang="en-US" sz="1900" dirty="0"/>
          </a:p>
        </p:txBody>
      </p:sp>
      <p:sp>
        <p:nvSpPr>
          <p:cNvPr id="31" name="Text 24"/>
          <p:cNvSpPr txBox="1"/>
          <p:nvPr/>
        </p:nvSpPr>
        <p:spPr>
          <a:xfrm>
            <a:off x="9528049" y="2872718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ENGAGEMENT RATE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48638" y="3628122"/>
            <a:ext cx="10461482" cy="1253826"/>
          </a:xfrm>
          <a:prstGeom prst="roundRect">
            <a:avLst>
              <a:gd name="adj" fmla="val 3922"/>
            </a:avLst>
          </a:prstGeom>
          <a:solidFill>
            <a:srgbClr val="F6F1FB"/>
          </a:solidFill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33" name="Shape 26"/>
          <p:cNvSpPr/>
          <p:nvPr/>
        </p:nvSpPr>
        <p:spPr>
          <a:xfrm>
            <a:off x="749806" y="3725048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34" name="Image 5" descr="assets/icon_bulb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312" y="3796554"/>
            <a:ext cx="277612" cy="27761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280158" y="3725048"/>
            <a:ext cx="45308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856659" y="4242619"/>
            <a:ext cx="9574966" cy="431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</a:t>
            </a: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18.55%</a:t>
            </a: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engagement rate on nearly a billion in reach is a strong, healthy number — the account isn't relying on a few viral spikes, it's earning consistent interaction across all </a:t>
            </a:r>
            <a:r>
              <a:rPr lang="en-US" sz="140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</a:t>
            </a:r>
            <a:r>
              <a:rPr lang="en-US" sz="1400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posts.</a:t>
            </a:r>
            <a:endParaRPr lang="en-US" sz="1400" dirty="0"/>
          </a:p>
        </p:txBody>
      </p:sp>
      <p:sp>
        <p:nvSpPr>
          <p:cNvPr id="37" name="Shape 29"/>
          <p:cNvSpPr/>
          <p:nvPr/>
        </p:nvSpPr>
        <p:spPr>
          <a:xfrm>
            <a:off x="548641" y="5060181"/>
            <a:ext cx="10461482" cy="1253826"/>
          </a:xfrm>
          <a:prstGeom prst="roundRect">
            <a:avLst>
              <a:gd name="adj" fmla="val 3922"/>
            </a:avLst>
          </a:prstGeom>
          <a:solidFill>
            <a:srgbClr val="2A1454"/>
          </a:solidFill>
          <a:ln/>
          <a:effectLst>
            <a:innerShdw blurRad="63500" dist="50800" dir="2700000">
              <a:prstClr val="black">
                <a:alpha val="50000"/>
              </a:prstClr>
            </a:innerShdw>
          </a:effectLst>
        </p:spPr>
      </p:sp>
      <p:sp>
        <p:nvSpPr>
          <p:cNvPr id="38" name="Shape 30"/>
          <p:cNvSpPr/>
          <p:nvPr/>
        </p:nvSpPr>
        <p:spPr>
          <a:xfrm>
            <a:off x="749806" y="5161158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39" name="Image 6" descr="assets/icon_rocke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312" y="5232664"/>
            <a:ext cx="277612" cy="277612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1280158" y="5161158"/>
            <a:ext cx="45308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41" name="Text 32"/>
          <p:cNvSpPr txBox="1"/>
          <p:nvPr/>
        </p:nvSpPr>
        <p:spPr>
          <a:xfrm>
            <a:off x="861052" y="5692769"/>
            <a:ext cx="9150695" cy="4608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baseline (18.55%) as the benchmark for every future campaign. Anything posting meaningfully below it needs review,  any clearing it is worth repeating.</a:t>
            </a:r>
            <a:endParaRPr lang="en-US" sz="1400" dirty="0"/>
          </a:p>
        </p:txBody>
      </p:sp>
      <p:sp>
        <p:nvSpPr>
          <p:cNvPr id="42" name="Text 33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EA44F3B3-58DA-733D-3E3E-7FDB3C1829C3}"/>
              </a:ext>
            </a:extLst>
          </p:cNvPr>
          <p:cNvSpPr txBox="1"/>
          <p:nvPr/>
        </p:nvSpPr>
        <p:spPr>
          <a:xfrm>
            <a:off x="2152449" y="114305"/>
            <a:ext cx="3771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indent="0">
              <a:buNone/>
              <a:defRPr sz="1150" b="1" kern="0" spc="12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US" dirty="0"/>
              <a:t>TWELVE MONTHS OF INSTAGRAM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1" y="141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741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3" y="159728"/>
            <a:ext cx="20766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POSTING TREND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1" y="422453"/>
            <a:ext cx="65519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Has Stayed Remarkably Consistent</a:t>
            </a:r>
            <a:endParaRPr lang="en-US" sz="2500" u="sng" dirty="0"/>
          </a:p>
        </p:txBody>
      </p:sp>
      <p:sp>
        <p:nvSpPr>
          <p:cNvPr id="7" name="Shape 5"/>
          <p:cNvSpPr/>
          <p:nvPr/>
        </p:nvSpPr>
        <p:spPr>
          <a:xfrm>
            <a:off x="548640" y="1259633"/>
            <a:ext cx="6824925" cy="5049727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648107944"/>
              </p:ext>
            </p:extLst>
          </p:nvPr>
        </p:nvGraphicFramePr>
        <p:xfrm>
          <a:off x="777239" y="1476731"/>
          <a:ext cx="6283593" cy="46497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35239" y="1259633"/>
            <a:ext cx="4190696" cy="2574445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36408" y="1387822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1" name="Image 0" descr="assets/icon_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1459328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1387822"/>
            <a:ext cx="105715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907914" y="1936635"/>
            <a:ext cx="3735446" cy="1779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1700"/>
              </a:lnSpc>
              <a:buNone/>
              <a:defRPr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Posting volume remained consistent at </a:t>
            </a:r>
            <a:r>
              <a:rPr lang="en-IN" sz="1100" b="1" dirty="0">
                <a:solidFill>
                  <a:schemeClr val="tx1"/>
                </a:solidFill>
              </a:rPr>
              <a:t>4.1K-4.3K </a:t>
            </a:r>
            <a:r>
              <a:rPr lang="en-IN" sz="1100" dirty="0">
                <a:solidFill>
                  <a:schemeClr val="tx1"/>
                </a:solidFill>
              </a:rPr>
              <a:t>posts/month.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Drops in </a:t>
            </a:r>
            <a:r>
              <a:rPr lang="en-IN" sz="1100" b="1" dirty="0">
                <a:solidFill>
                  <a:schemeClr val="tx1"/>
                </a:solidFill>
              </a:rPr>
              <a:t>Apr'24 </a:t>
            </a:r>
            <a:r>
              <a:rPr lang="en-IN" sz="1100" dirty="0">
                <a:solidFill>
                  <a:schemeClr val="tx1"/>
                </a:solidFill>
              </a:rPr>
              <a:t>and </a:t>
            </a:r>
            <a:r>
              <a:rPr lang="en-IN" sz="1100" b="1" dirty="0">
                <a:solidFill>
                  <a:schemeClr val="tx1"/>
                </a:solidFill>
              </a:rPr>
              <a:t>Apr'25</a:t>
            </a:r>
            <a:r>
              <a:rPr lang="en-IN" sz="1100" dirty="0">
                <a:solidFill>
                  <a:schemeClr val="tx1"/>
                </a:solidFill>
              </a:rPr>
              <a:t> are due to partial-month data, not reduced activity.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No major spikes or declines </a:t>
            </a:r>
            <a:r>
              <a:rPr lang="en-IN" sz="1100" dirty="0">
                <a:solidFill>
                  <a:schemeClr val="tx1"/>
                </a:solidFill>
              </a:rPr>
              <a:t>in posting frequency throughout the year.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Higher posting volume did not lead to higher engagement.</a:t>
            </a:r>
          </a:p>
        </p:txBody>
      </p:sp>
      <p:sp>
        <p:nvSpPr>
          <p:cNvPr id="14" name="Shape 10"/>
          <p:cNvSpPr/>
          <p:nvPr/>
        </p:nvSpPr>
        <p:spPr>
          <a:xfrm>
            <a:off x="7635239" y="4040155"/>
            <a:ext cx="4190695" cy="2269205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36408" y="4182956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6" name="Image 1" descr="assets/icon_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914" y="4254462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4182956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907915" y="4740764"/>
            <a:ext cx="3735446" cy="1385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lnSpc>
                <a:spcPts val="1700"/>
              </a:lnSpc>
              <a:buFont typeface="Arial" panose="020B0604020202020204" pitchFamily="34" charset="0"/>
              <a:buChar char="•"/>
              <a:defRPr sz="125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IN" sz="1100" dirty="0">
                <a:solidFill>
                  <a:schemeClr val="bg1"/>
                </a:solidFill>
              </a:rPr>
              <a:t>Maintain the current posting cadence.</a:t>
            </a:r>
          </a:p>
          <a:p>
            <a:r>
              <a:rPr lang="en-IN" sz="1100" dirty="0">
                <a:solidFill>
                  <a:schemeClr val="bg1"/>
                </a:solidFill>
              </a:rPr>
              <a:t>Focus on content quality over quantity.</a:t>
            </a:r>
          </a:p>
          <a:p>
            <a:r>
              <a:rPr lang="en-IN" sz="1100" dirty="0">
                <a:solidFill>
                  <a:schemeClr val="bg1"/>
                </a:solidFill>
              </a:rPr>
              <a:t>Invest in creative formats, stronger messaging, and campaign optimization.</a:t>
            </a:r>
          </a:p>
          <a:p>
            <a:r>
              <a:rPr lang="en-IN" sz="1100" dirty="0">
                <a:solidFill>
                  <a:schemeClr val="bg1"/>
                </a:solidFill>
              </a:rPr>
              <a:t>Track and optimize for engagement metrics, not just posting volume.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17739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1773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117739"/>
            <a:ext cx="186201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0" cap="none" spc="120" normalizeH="0" baseline="0" noProof="0" dirty="0">
                <a:ln>
                  <a:noFill/>
                </a:ln>
                <a:solidFill>
                  <a:srgbClr val="C13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10 POSTS BY LIKES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400932"/>
            <a:ext cx="5193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sng" strike="noStrike" kern="1200" cap="none" spc="0" normalizeH="0" baseline="0" noProof="0" dirty="0">
                <a:ln>
                  <a:noFill/>
                </a:ln>
                <a:solidFill>
                  <a:srgbClr val="2B1B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What Content Gets the Most Likes 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2B1B3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138335"/>
            <a:ext cx="6812280" cy="5170004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2089075431"/>
              </p:ext>
            </p:extLst>
          </p:nvPr>
        </p:nvGraphicFramePr>
        <p:xfrm>
          <a:off x="777240" y="1364958"/>
          <a:ext cx="6446520" cy="47604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35239" y="1138335"/>
            <a:ext cx="4270622" cy="2677457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36408" y="1208198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1" name="Image 0" descr="assets/icon_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127970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1208198"/>
            <a:ext cx="100117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C1358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7910931" y="1609307"/>
            <a:ext cx="3913631" cy="2161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1700"/>
              </a:lnSpc>
              <a:buNone/>
              <a:defRPr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format dominates the top 10 by likes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the highest and lowest posts differ by just 3% (11,043–11,392 likes).</a:t>
            </a:r>
          </a:p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Reels and Images each take 3 of the top 10 spots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the strongest showing among all formats.</a:t>
            </a:r>
          </a:p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 and Story each appear twice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performing competitively despite fewer top-10 appearances.</a:t>
            </a:r>
          </a:p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spread across all 10 posts is tiny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only ~350 likes separate the #1 post from the #10 post.</a:t>
            </a:r>
          </a:p>
          <a:p>
            <a:pPr marL="171450" marR="0" lvl="0" indent="-1714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Overall,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raw-likes performance is evenly spread across formats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not concentrated in one.</a:t>
            </a:r>
          </a:p>
        </p:txBody>
      </p:sp>
      <p:sp>
        <p:nvSpPr>
          <p:cNvPr id="14" name="Shape 10"/>
          <p:cNvSpPr/>
          <p:nvPr/>
        </p:nvSpPr>
        <p:spPr>
          <a:xfrm>
            <a:off x="7635239" y="4016959"/>
            <a:ext cx="4270622" cy="2292401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36408" y="4087959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6" name="Image 1" descr="assets/icon_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914" y="4159465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4087959"/>
            <a:ext cx="15236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10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7909559" y="4508584"/>
            <a:ext cx="3916376" cy="17149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lnSpc>
                <a:spcPts val="1700"/>
              </a:lnSpc>
              <a:buFont typeface="Arial" panose="020B0604020202020204" pitchFamily="34" charset="0"/>
              <a:buChar char="•"/>
              <a:defRPr sz="125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 balanced content mix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no format needs deprioritizing based on raw likes.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creative quality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since it matters more than format choice at this tight margin.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Keep testing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Reels and Images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, which show a slight edge in top-10 representation.</a:t>
            </a:r>
          </a:p>
          <a:p>
            <a:pPr marL="285750" marR="0" lvl="0" indent="-285750" algn="l" defTabSz="914400" rtl="0" eaLnBrk="1" fontAlgn="auto" latinLnBrk="0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Don't sideline 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Video or Story</a:t>
            </a:r>
            <a:r>
              <a:rPr kumimoji="0" lang="en-IN" sz="11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— both hold their own among the top performers.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65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65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4799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4799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94799"/>
            <a:ext cx="285106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POSTS BY ENGAGEMENT RATE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3740"/>
            <a:ext cx="508705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Posts Convert Reach Best </a:t>
            </a:r>
            <a:r>
              <a:rPr lang="en-US" sz="2500" b="1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548640" y="1108952"/>
            <a:ext cx="6831874" cy="5200407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279450630"/>
              </p:ext>
            </p:extLst>
          </p:nvPr>
        </p:nvGraphicFramePr>
        <p:xfrm>
          <a:off x="777240" y="1407999"/>
          <a:ext cx="6379432" cy="47184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35239" y="1108953"/>
            <a:ext cx="4190696" cy="2399358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07914" y="1159961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1" name="Image 0" descr="assets/icon_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9420" y="1231467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38266" y="1159961"/>
            <a:ext cx="11371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907914" y="1631595"/>
            <a:ext cx="3735446" cy="1797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1700"/>
              </a:lnSpc>
              <a:buNone/>
              <a:defRPr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Image posts achieve the highest engagement rate (34.1%)</a:t>
            </a:r>
            <a:r>
              <a:rPr lang="en-IN" sz="1100" dirty="0">
                <a:solidFill>
                  <a:schemeClr val="tx1"/>
                </a:solidFill>
              </a:rPr>
              <a:t>, narrowly ahead of Reels and Stories.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Video is the most frequent top-10 performer</a:t>
            </a:r>
            <a:r>
              <a:rPr lang="en-IN" sz="1100" dirty="0">
                <a:solidFill>
                  <a:schemeClr val="tx1"/>
                </a:solidFill>
              </a:rPr>
              <a:t>, appearing 4 times — more than any other format.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All formats are tightly clustered</a:t>
            </a:r>
            <a:r>
              <a:rPr lang="en-IN" sz="1100" dirty="0">
                <a:solidFill>
                  <a:schemeClr val="tx1"/>
                </a:solidFill>
              </a:rPr>
              <a:t> between 33.8% and 34.1% — a very narrow spread.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No single format dominates; performance differences between the top 10 are minor.</a:t>
            </a:r>
          </a:p>
        </p:txBody>
      </p:sp>
      <p:sp>
        <p:nvSpPr>
          <p:cNvPr id="14" name="Shape 10"/>
          <p:cNvSpPr/>
          <p:nvPr/>
        </p:nvSpPr>
        <p:spPr>
          <a:xfrm>
            <a:off x="7635241" y="3761543"/>
            <a:ext cx="4190694" cy="2547815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07914" y="3818333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6" name="Image 1" descr="assets/icon_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9420" y="3889839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38266" y="3818333"/>
            <a:ext cx="15651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901598" y="4294379"/>
            <a:ext cx="3741762" cy="19203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lnSpc>
                <a:spcPts val="1700"/>
              </a:lnSpc>
              <a:buFont typeface="Arial" panose="020B0604020202020204" pitchFamily="34" charset="0"/>
              <a:buChar char="•"/>
              <a:defRPr sz="125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lvl="0"/>
            <a:r>
              <a:rPr lang="en-IN" sz="1100" dirty="0">
                <a:solidFill>
                  <a:schemeClr val="bg1"/>
                </a:solidFill>
              </a:rPr>
              <a:t>Maintain a </a:t>
            </a:r>
            <a:r>
              <a:rPr lang="en-IN" sz="1100" b="1" dirty="0">
                <a:solidFill>
                  <a:schemeClr val="bg1"/>
                </a:solidFill>
              </a:rPr>
              <a:t>balanced content mix</a:t>
            </a:r>
            <a:r>
              <a:rPr lang="en-IN" sz="1100" dirty="0">
                <a:solidFill>
                  <a:schemeClr val="bg1"/>
                </a:solidFill>
              </a:rPr>
              <a:t> — no format is dramatically ahead of the others.</a:t>
            </a:r>
          </a:p>
          <a:p>
            <a:pPr lvl="0"/>
            <a:r>
              <a:rPr lang="en-IN" sz="1100" b="1" dirty="0">
                <a:solidFill>
                  <a:schemeClr val="bg1"/>
                </a:solidFill>
              </a:rPr>
              <a:t>Video shows the most consistent top-tier presence</a:t>
            </a:r>
            <a:r>
              <a:rPr lang="en-IN" sz="1100" dirty="0">
                <a:solidFill>
                  <a:schemeClr val="bg1"/>
                </a:solidFill>
              </a:rPr>
              <a:t> (4 of the top 10), so it remains worth continued investment.</a:t>
            </a:r>
          </a:p>
          <a:p>
            <a:pPr lvl="0"/>
            <a:r>
              <a:rPr lang="en-IN" sz="1100" b="1" dirty="0">
                <a:solidFill>
                  <a:schemeClr val="bg1"/>
                </a:solidFill>
              </a:rPr>
              <a:t>Images can also drive top-tier engagement</a:t>
            </a:r>
            <a:r>
              <a:rPr lang="en-IN" sz="1100" dirty="0">
                <a:solidFill>
                  <a:schemeClr val="bg1"/>
                </a:solidFill>
              </a:rPr>
              <a:t>, don't deprioritize them.</a:t>
            </a:r>
          </a:p>
          <a:p>
            <a:pPr lvl="0"/>
            <a:r>
              <a:rPr lang="en-IN" sz="1100" dirty="0">
                <a:solidFill>
                  <a:schemeClr val="bg1"/>
                </a:solidFill>
              </a:rPr>
              <a:t>Since the gap between formats is under 0.3%, </a:t>
            </a:r>
            <a:r>
              <a:rPr lang="en-IN" sz="1100" b="1" dirty="0">
                <a:solidFill>
                  <a:schemeClr val="bg1"/>
                </a:solidFill>
              </a:rPr>
              <a:t>focus on content quality and creative execution</a:t>
            </a:r>
            <a:r>
              <a:rPr lang="en-IN" sz="1100" dirty="0">
                <a:solidFill>
                  <a:schemeClr val="bg1"/>
                </a:solidFill>
              </a:rPr>
              <a:t> rather than format alone.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1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0058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91440"/>
            <a:ext cx="302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TYPE PERFORMANCE COMPARISON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332"/>
            <a:ext cx="651463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Performs Within a Tight Band</a:t>
            </a:r>
            <a:endParaRPr lang="en-US" sz="2500" u="sng" dirty="0"/>
          </a:p>
        </p:txBody>
      </p:sp>
      <p:sp>
        <p:nvSpPr>
          <p:cNvPr id="7" name="Shape 5"/>
          <p:cNvSpPr/>
          <p:nvPr/>
        </p:nvSpPr>
        <p:spPr>
          <a:xfrm>
            <a:off x="548640" y="1060315"/>
            <a:ext cx="6812280" cy="5249045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085143144"/>
              </p:ext>
            </p:extLst>
          </p:nvPr>
        </p:nvGraphicFramePr>
        <p:xfrm>
          <a:off x="777240" y="1351422"/>
          <a:ext cx="6361136" cy="4729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35239" y="1060315"/>
            <a:ext cx="4261292" cy="2546787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36408" y="1125771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1" name="Image 0" descr="assets/icon_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1197277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1125771"/>
            <a:ext cx="98152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907914" y="1583638"/>
            <a:ext cx="3652716" cy="202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1700"/>
              </a:lnSpc>
              <a:buNone/>
              <a:defRPr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All content formats perform at a very similar level, with only small differences in average likes, comments, and saves.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Stories have the highest average engagement, but the lead over other formats is minimal.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Reels, Videos, and Images perform nearly on par with Stories, indicating no clear "best" format overall.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The data suggests that content quality matters more than content format.</a:t>
            </a:r>
          </a:p>
        </p:txBody>
      </p:sp>
      <p:sp>
        <p:nvSpPr>
          <p:cNvPr id="14" name="Shape 10"/>
          <p:cNvSpPr/>
          <p:nvPr/>
        </p:nvSpPr>
        <p:spPr>
          <a:xfrm>
            <a:off x="7635239" y="3762574"/>
            <a:ext cx="4261292" cy="2546787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36408" y="3846942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6" name="Image 1" descr="assets/icon_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914" y="3918448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846942"/>
            <a:ext cx="15749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907913" y="4295649"/>
            <a:ext cx="3652716" cy="1657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lnSpc>
                <a:spcPts val="1700"/>
              </a:lnSpc>
              <a:buFont typeface="Arial" panose="020B0604020202020204" pitchFamily="34" charset="0"/>
              <a:buChar char="•"/>
              <a:defRPr sz="125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IN" sz="1100" dirty="0">
                <a:solidFill>
                  <a:schemeClr val="bg1"/>
                </a:solidFill>
              </a:rPr>
              <a:t>Maintain a balanced mix of Images, Reels, Stories, and Videos.​‌</a:t>
            </a:r>
          </a:p>
          <a:p>
            <a:r>
              <a:rPr lang="en-IN" sz="1100" dirty="0">
                <a:solidFill>
                  <a:schemeClr val="bg1"/>
                </a:solidFill>
              </a:rPr>
              <a:t>Focus on improving content quality and relevance, as format alone is not driving significant performance differences.​‌</a:t>
            </a:r>
          </a:p>
          <a:p>
            <a:r>
              <a:rPr lang="en-IN" sz="1100" dirty="0">
                <a:solidFill>
                  <a:schemeClr val="bg1"/>
                </a:solidFill>
              </a:rPr>
              <a:t>Select formats based on campaign objectives (reach, engagement, education, or product awareness).​‌</a:t>
            </a:r>
          </a:p>
          <a:p>
            <a:r>
              <a:rPr lang="en-IN" sz="1100" dirty="0">
                <a:solidFill>
                  <a:schemeClr val="bg1"/>
                </a:solidFill>
              </a:rPr>
              <a:t>Continue testing different content types, as each format has the potential to perform well.</a:t>
            </a:r>
          </a:p>
          <a:p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1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144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91440"/>
            <a:ext cx="18806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 ANALYSIS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"/>
            <a:ext cx="5422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Posting Day Barely Moves the Needle</a:t>
            </a:r>
            <a:endParaRPr lang="en-US" sz="2500" u="sng" dirty="0"/>
          </a:p>
        </p:txBody>
      </p:sp>
      <p:sp>
        <p:nvSpPr>
          <p:cNvPr id="7" name="Shape 5"/>
          <p:cNvSpPr/>
          <p:nvPr/>
        </p:nvSpPr>
        <p:spPr>
          <a:xfrm>
            <a:off x="548640" y="1069848"/>
            <a:ext cx="6812280" cy="5239512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416137373"/>
              </p:ext>
            </p:extLst>
          </p:nvPr>
        </p:nvGraphicFramePr>
        <p:xfrm>
          <a:off x="777240" y="1360012"/>
          <a:ext cx="6446520" cy="4720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35239" y="1069848"/>
            <a:ext cx="4300599" cy="2871924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36408" y="1102898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1" name="Image 0" descr="assets/icon_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1174404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1102898"/>
            <a:ext cx="99124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909560" y="1512548"/>
            <a:ext cx="3918021" cy="2428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1700"/>
              </a:lnSpc>
              <a:buNone/>
              <a:defRPr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Engagement rates are nearly identical across all days of the week, ranging from approximately </a:t>
            </a:r>
            <a:r>
              <a:rPr lang="en-IN" sz="1100" b="1" dirty="0">
                <a:solidFill>
                  <a:schemeClr val="tx1"/>
                </a:solidFill>
              </a:rPr>
              <a:t>18.4% </a:t>
            </a:r>
            <a:r>
              <a:rPr lang="en-IN" sz="1100" dirty="0">
                <a:solidFill>
                  <a:schemeClr val="tx1"/>
                </a:solidFill>
              </a:rPr>
              <a:t>to </a:t>
            </a:r>
            <a:r>
              <a:rPr lang="en-IN" sz="1100" b="1" dirty="0">
                <a:solidFill>
                  <a:schemeClr val="tx1"/>
                </a:solidFill>
              </a:rPr>
              <a:t>18.6%</a:t>
            </a:r>
            <a:r>
              <a:rPr lang="en-IN" sz="1100" dirty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Wednesday has the highest engagement rate, but only marginally above other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Sunday has the lowest engagement rate, though the difference is negligible.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The gap between the best and worst day is </a:t>
            </a:r>
            <a:r>
              <a:rPr lang="en-IN" sz="1100" b="1" dirty="0">
                <a:solidFill>
                  <a:schemeClr val="tx1"/>
                </a:solidFill>
              </a:rPr>
              <a:t>less than 0.3 </a:t>
            </a:r>
            <a:r>
              <a:rPr lang="en-IN" sz="1100" dirty="0">
                <a:solidFill>
                  <a:schemeClr val="tx1"/>
                </a:solidFill>
              </a:rPr>
              <a:t>percentage points, indicating no meaningful "best day" to post.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tx1"/>
                </a:solidFill>
              </a:rPr>
              <a:t>Audience engagement appears consistent throughout the week.</a:t>
            </a:r>
          </a:p>
        </p:txBody>
      </p:sp>
      <p:sp>
        <p:nvSpPr>
          <p:cNvPr id="14" name="Shape 10"/>
          <p:cNvSpPr/>
          <p:nvPr/>
        </p:nvSpPr>
        <p:spPr>
          <a:xfrm>
            <a:off x="7635239" y="4095345"/>
            <a:ext cx="4300599" cy="2214015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36408" y="4173283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6" name="Image 1" descr="assets/icon_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914" y="4244789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4173283"/>
            <a:ext cx="15846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909560" y="4639140"/>
            <a:ext cx="3916375" cy="1541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lnSpc>
                <a:spcPts val="1700"/>
              </a:lnSpc>
              <a:buFont typeface="Arial" panose="020B0604020202020204" pitchFamily="34" charset="0"/>
              <a:buChar char="•"/>
              <a:defRPr sz="125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IN" sz="1100" dirty="0">
                <a:solidFill>
                  <a:schemeClr val="bg1"/>
                </a:solidFill>
              </a:rPr>
              <a:t>Do not optimize content strategy around a specific day of the week.</a:t>
            </a:r>
          </a:p>
          <a:p>
            <a:r>
              <a:rPr lang="en-IN" sz="1100" dirty="0">
                <a:solidFill>
                  <a:schemeClr val="bg1"/>
                </a:solidFill>
              </a:rPr>
              <a:t>Schedule posts based on campaign timing, content readiness, and business priorities.</a:t>
            </a:r>
          </a:p>
          <a:p>
            <a:r>
              <a:rPr lang="en-IN" sz="1100" dirty="0">
                <a:solidFill>
                  <a:schemeClr val="bg1"/>
                </a:solidFill>
              </a:rPr>
              <a:t>Focus on content quality and format, as these are likely to have a greater impact than posting day.</a:t>
            </a:r>
          </a:p>
          <a:p>
            <a:r>
              <a:rPr lang="en-IN" sz="1100" dirty="0">
                <a:solidFill>
                  <a:schemeClr val="bg1"/>
                </a:solidFill>
              </a:rPr>
              <a:t>Maintain a consistent posting schedule across the week.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1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8521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91440"/>
            <a:ext cx="1815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FUNNEL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9534"/>
            <a:ext cx="66498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Healthy Drop-Off — No Leaks in the Funnel</a:t>
            </a:r>
            <a:endParaRPr lang="en-US" sz="2500" u="sng" dirty="0"/>
          </a:p>
        </p:txBody>
      </p:sp>
      <p:sp>
        <p:nvSpPr>
          <p:cNvPr id="7" name="Shape 5"/>
          <p:cNvSpPr/>
          <p:nvPr/>
        </p:nvSpPr>
        <p:spPr>
          <a:xfrm>
            <a:off x="548640" y="1088136"/>
            <a:ext cx="6812280" cy="5221224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965960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2A145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1899037"/>
            <a:ext cx="4646787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1.28B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899037"/>
            <a:ext cx="915815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410233" y="2624328"/>
            <a:ext cx="3626053" cy="512064"/>
          </a:xfrm>
          <a:prstGeom prst="roundRect">
            <a:avLst>
              <a:gd name="adj" fmla="val 10714"/>
            </a:avLst>
          </a:prstGeom>
          <a:solidFill>
            <a:srgbClr val="833AB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410234" y="2557405"/>
            <a:ext cx="3578026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987.4M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760720" y="2557405"/>
            <a:ext cx="915815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57500" y="3282696"/>
            <a:ext cx="731520" cy="512064"/>
          </a:xfrm>
          <a:prstGeom prst="roundRect">
            <a:avLst>
              <a:gd name="adj" fmla="val 10714"/>
            </a:avLst>
          </a:prstGeom>
          <a:solidFill>
            <a:srgbClr val="C135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857500" y="3215773"/>
            <a:ext cx="721831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147.7M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1" y="3215773"/>
            <a:ext cx="542802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857500" y="3941064"/>
            <a:ext cx="731520" cy="512064"/>
          </a:xfrm>
          <a:prstGeom prst="roundRect">
            <a:avLst>
              <a:gd name="adj" fmla="val 10714"/>
            </a:avLst>
          </a:prstGeom>
          <a:solidFill>
            <a:srgbClr val="E130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857500" y="3874141"/>
            <a:ext cx="721831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18.5M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874141"/>
            <a:ext cx="915815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57500" y="4599432"/>
            <a:ext cx="731520" cy="512064"/>
          </a:xfrm>
          <a:prstGeom prst="roundRect">
            <a:avLst>
              <a:gd name="adj" fmla="val 10714"/>
            </a:avLst>
          </a:prstGeom>
          <a:solidFill>
            <a:srgbClr val="FD1D1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57500" y="4532509"/>
            <a:ext cx="721831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8.1M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760721" y="4532509"/>
            <a:ext cx="805450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857500" y="5257800"/>
            <a:ext cx="731520" cy="512064"/>
          </a:xfrm>
          <a:prstGeom prst="roundRect">
            <a:avLst>
              <a:gd name="adj" fmla="val 10714"/>
            </a:avLst>
          </a:prstGeom>
          <a:solidFill>
            <a:srgbClr val="F7773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857500" y="5190877"/>
            <a:ext cx="721831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8.9M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760721" y="5190877"/>
            <a:ext cx="640080" cy="5789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B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635239" y="1088136"/>
            <a:ext cx="4335937" cy="2873959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836408" y="1140576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28" name="Image 0" descr="assets/icon_bulb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914" y="1212082"/>
            <a:ext cx="277612" cy="27761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8366760" y="1140576"/>
            <a:ext cx="103988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886840" y="1526723"/>
            <a:ext cx="4076395" cy="2423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indent="0">
              <a:lnSpc>
                <a:spcPts val="1700"/>
              </a:lnSpc>
              <a:buNone/>
              <a:defRPr sz="12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Impressions (1.28B) </a:t>
            </a:r>
            <a:r>
              <a:rPr lang="en-IN" sz="1100" dirty="0">
                <a:solidFill>
                  <a:schemeClr val="tx1"/>
                </a:solidFill>
              </a:rPr>
              <a:t>generated strong </a:t>
            </a:r>
            <a:r>
              <a:rPr lang="en-IN" sz="1100" b="1" dirty="0">
                <a:solidFill>
                  <a:schemeClr val="tx1"/>
                </a:solidFill>
              </a:rPr>
              <a:t>Reach (987.4M)</a:t>
            </a:r>
            <a:r>
              <a:rPr lang="en-IN" sz="1100" dirty="0">
                <a:solidFill>
                  <a:schemeClr val="tx1"/>
                </a:solidFill>
              </a:rPr>
              <a:t>, </a:t>
            </a:r>
            <a:br>
              <a:rPr lang="en-IN" sz="1100" dirty="0">
                <a:solidFill>
                  <a:schemeClr val="tx1"/>
                </a:solidFill>
              </a:rPr>
            </a:br>
            <a:r>
              <a:rPr lang="en-IN" sz="1100" dirty="0">
                <a:solidFill>
                  <a:schemeClr val="tx1"/>
                </a:solidFill>
              </a:rPr>
              <a:t>with </a:t>
            </a:r>
            <a:r>
              <a:rPr lang="en-IN" sz="1100" b="1" dirty="0">
                <a:solidFill>
                  <a:schemeClr val="tx1"/>
                </a:solidFill>
              </a:rPr>
              <a:t>77%</a:t>
            </a:r>
            <a:r>
              <a:rPr lang="en-IN" sz="1100" dirty="0">
                <a:solidFill>
                  <a:schemeClr val="tx1"/>
                </a:solidFill>
              </a:rPr>
              <a:t> of impressions converting to reach.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Likes (147.7M) </a:t>
            </a:r>
            <a:r>
              <a:rPr lang="en-IN" sz="1100" dirty="0">
                <a:solidFill>
                  <a:schemeClr val="tx1"/>
                </a:solidFill>
              </a:rPr>
              <a:t>are the largest engagement action, showing strong audience interaction once content is seen.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Comments (18.5M) </a:t>
            </a:r>
            <a:r>
              <a:rPr lang="en-IN" sz="1100" dirty="0">
                <a:solidFill>
                  <a:schemeClr val="tx1"/>
                </a:solidFill>
              </a:rPr>
              <a:t>are significantly lower than Likes, which is a normal engagement pattern.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Saves (8.9M) </a:t>
            </a:r>
            <a:r>
              <a:rPr lang="en-IN" sz="1100" dirty="0">
                <a:solidFill>
                  <a:schemeClr val="tx1"/>
                </a:solidFill>
              </a:rPr>
              <a:t>slightly outperform </a:t>
            </a:r>
            <a:r>
              <a:rPr lang="en-IN" sz="1100" b="1" dirty="0">
                <a:solidFill>
                  <a:schemeClr val="tx1"/>
                </a:solidFill>
              </a:rPr>
              <a:t>Shares (8.1M)</a:t>
            </a:r>
            <a:r>
              <a:rPr lang="en-IN" sz="1100" dirty="0">
                <a:solidFill>
                  <a:schemeClr val="tx1"/>
                </a:solidFill>
              </a:rPr>
              <a:t>, suggesting audiences are more likely to save content for later than share it with others.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100" b="1" dirty="0">
                <a:solidFill>
                  <a:schemeClr val="tx1"/>
                </a:solidFill>
              </a:rPr>
              <a:t>No unusual drop-offs </a:t>
            </a:r>
            <a:r>
              <a:rPr lang="en-IN" sz="1100" dirty="0">
                <a:solidFill>
                  <a:schemeClr val="tx1"/>
                </a:solidFill>
              </a:rPr>
              <a:t>are visible in the funnel; engagement decreases gradually at each stage.</a:t>
            </a:r>
          </a:p>
        </p:txBody>
      </p:sp>
      <p:sp>
        <p:nvSpPr>
          <p:cNvPr id="31" name="Shape 28"/>
          <p:cNvSpPr/>
          <p:nvPr/>
        </p:nvSpPr>
        <p:spPr>
          <a:xfrm>
            <a:off x="7635240" y="4091345"/>
            <a:ext cx="4335936" cy="2218015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7836408" y="4144862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33" name="Image 1" descr="assets/icon_rock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4216368"/>
            <a:ext cx="277612" cy="277612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8366760" y="4144862"/>
            <a:ext cx="3090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7886840" y="4555596"/>
            <a:ext cx="3916375" cy="167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lnSpc>
                <a:spcPts val="1700"/>
              </a:lnSpc>
              <a:buFont typeface="Arial" panose="020B0604020202020204" pitchFamily="34" charset="0"/>
              <a:buChar char="•"/>
              <a:defRPr sz="1250"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r>
              <a:rPr lang="en-IN" sz="1100" dirty="0">
                <a:solidFill>
                  <a:schemeClr val="bg1"/>
                </a:solidFill>
              </a:rPr>
              <a:t>Maintain current reach-driving strategies, as content distribution is performing well.</a:t>
            </a:r>
          </a:p>
          <a:p>
            <a:r>
              <a:rPr lang="en-IN" sz="1100" dirty="0">
                <a:solidFill>
                  <a:schemeClr val="bg1"/>
                </a:solidFill>
              </a:rPr>
              <a:t>Focus on increasing Shares and Saves, which are the smallest engagement actions in the funnel.</a:t>
            </a:r>
          </a:p>
          <a:p>
            <a:r>
              <a:rPr lang="en-IN" sz="1100" dirty="0">
                <a:solidFill>
                  <a:schemeClr val="bg1"/>
                </a:solidFill>
              </a:rPr>
              <a:t>Create more how-to, educational, and value-driven content that users are likely to save or share.</a:t>
            </a:r>
          </a:p>
          <a:p>
            <a:r>
              <a:rPr lang="en-IN" sz="1100" dirty="0">
                <a:solidFill>
                  <a:schemeClr val="bg1"/>
                </a:solidFill>
              </a:rPr>
              <a:t>Add stronger "Save this" and "Share with a friend" CTAs to drive deeper engagement.</a:t>
            </a:r>
          </a:p>
        </p:txBody>
      </p:sp>
      <p:sp>
        <p:nvSpPr>
          <p:cNvPr id="36" name="Text 32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37" name="Text 33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914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08076" y="9442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91440"/>
            <a:ext cx="158209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ANALYSIS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507"/>
            <a:ext cx="7086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Hashtag Choice Barely Moves the Needle Either</a:t>
            </a:r>
            <a:endParaRPr lang="en-US" sz="2500" u="sng" dirty="0"/>
          </a:p>
        </p:txBody>
      </p:sp>
      <p:sp>
        <p:nvSpPr>
          <p:cNvPr id="7" name="Shape 5"/>
          <p:cNvSpPr/>
          <p:nvPr/>
        </p:nvSpPr>
        <p:spPr>
          <a:xfrm>
            <a:off x="548640" y="1157591"/>
            <a:ext cx="6822272" cy="5151769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1513180173"/>
              </p:ext>
            </p:extLst>
          </p:nvPr>
        </p:nvGraphicFramePr>
        <p:xfrm>
          <a:off x="777240" y="1439068"/>
          <a:ext cx="6446520" cy="46416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7635239" y="1157592"/>
            <a:ext cx="4190695" cy="2511802"/>
          </a:xfrm>
          <a:prstGeom prst="roundRect">
            <a:avLst>
              <a:gd name="adj" fmla="val 4305"/>
            </a:avLst>
          </a:prstGeom>
          <a:solidFill>
            <a:srgbClr val="F6F1FB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836408" y="1228756"/>
            <a:ext cx="420624" cy="420624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1" name="Image 0" descr="assets/icon_bul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1300262"/>
            <a:ext cx="277612" cy="2776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366760" y="1228756"/>
            <a:ext cx="113180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899563" y="1794736"/>
            <a:ext cx="3662045" cy="1729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285750" indent="-285750">
              <a:buFont typeface="Arial" panose="020B0604020202020204" pitchFamily="34" charset="0"/>
              <a:buChar char="•"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IN" dirty="0">
                <a:solidFill>
                  <a:schemeClr val="tx1"/>
                </a:solidFill>
              </a:rPr>
              <a:t>All Five hashtags perform at a similar engagement rate </a:t>
            </a:r>
            <a:r>
              <a:rPr lang="en-IN" b="1" dirty="0">
                <a:solidFill>
                  <a:schemeClr val="tx1"/>
                </a:solidFill>
              </a:rPr>
              <a:t>(18.5%-18.7%).</a:t>
            </a:r>
          </a:p>
          <a:p>
            <a:r>
              <a:rPr lang="en-IN" b="1" dirty="0">
                <a:solidFill>
                  <a:schemeClr val="tx1"/>
                </a:solidFill>
              </a:rPr>
              <a:t>#BoldLooks </a:t>
            </a:r>
            <a:r>
              <a:rPr lang="en-IN" dirty="0">
                <a:solidFill>
                  <a:schemeClr val="tx1"/>
                </a:solidFill>
              </a:rPr>
              <a:t>delivers the highest engagement rate </a:t>
            </a:r>
            <a:r>
              <a:rPr lang="en-IN" b="1" dirty="0">
                <a:solidFill>
                  <a:schemeClr val="tx1"/>
                </a:solidFill>
              </a:rPr>
              <a:t>(18.7%)</a:t>
            </a:r>
            <a:r>
              <a:rPr lang="en-IN" dirty="0">
                <a:solidFill>
                  <a:schemeClr val="tx1"/>
                </a:solidFill>
              </a:rPr>
              <a:t>, but the lead is minimal.</a:t>
            </a:r>
          </a:p>
          <a:p>
            <a:r>
              <a:rPr lang="en-IN" b="1" dirty="0">
                <a:solidFill>
                  <a:schemeClr val="tx1"/>
                </a:solidFill>
              </a:rPr>
              <a:t>#SugarCosmetics </a:t>
            </a:r>
            <a:r>
              <a:rPr lang="en-IN" dirty="0">
                <a:solidFill>
                  <a:schemeClr val="tx1"/>
                </a:solidFill>
              </a:rPr>
              <a:t>has the lowest engagement rate </a:t>
            </a:r>
            <a:r>
              <a:rPr lang="en-IN" b="1" dirty="0">
                <a:solidFill>
                  <a:schemeClr val="tx1"/>
                </a:solidFill>
              </a:rPr>
              <a:t>(18.5%)</a:t>
            </a:r>
            <a:r>
              <a:rPr lang="en-IN" dirty="0">
                <a:solidFill>
                  <a:schemeClr val="tx1"/>
                </a:solidFill>
              </a:rPr>
              <a:t>, though the gap is not significant.</a:t>
            </a:r>
          </a:p>
          <a:p>
            <a:r>
              <a:rPr lang="en-IN" b="1" dirty="0">
                <a:solidFill>
                  <a:schemeClr val="tx1"/>
                </a:solidFill>
              </a:rPr>
              <a:t>No hashtag</a:t>
            </a:r>
            <a:r>
              <a:rPr lang="en-IN" dirty="0">
                <a:solidFill>
                  <a:schemeClr val="tx1"/>
                </a:solidFill>
              </a:rPr>
              <a:t> consistently outperforms the others by a meaningful margin.</a:t>
            </a:r>
          </a:p>
          <a:p>
            <a:r>
              <a:rPr lang="en-IN" dirty="0">
                <a:solidFill>
                  <a:schemeClr val="tx1"/>
                </a:solidFill>
              </a:rPr>
              <a:t>The current hashtag set appears to be delivering similar audience engagement outcomes.</a:t>
            </a:r>
          </a:p>
        </p:txBody>
      </p:sp>
      <p:sp>
        <p:nvSpPr>
          <p:cNvPr id="14" name="Shape 10"/>
          <p:cNvSpPr/>
          <p:nvPr/>
        </p:nvSpPr>
        <p:spPr>
          <a:xfrm>
            <a:off x="7635239" y="3852273"/>
            <a:ext cx="4190695" cy="2457088"/>
          </a:xfrm>
          <a:prstGeom prst="roundRect">
            <a:avLst>
              <a:gd name="adj" fmla="val 3989"/>
            </a:avLst>
          </a:prstGeom>
          <a:solidFill>
            <a:srgbClr val="2A1454"/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836408" y="3936819"/>
            <a:ext cx="420624" cy="420624"/>
          </a:xfrm>
          <a:prstGeom prst="ellipse">
            <a:avLst/>
          </a:prstGeom>
          <a:solidFill>
            <a:srgbClr val="F77737"/>
          </a:solidFill>
          <a:ln/>
        </p:spPr>
      </p:sp>
      <p:pic>
        <p:nvPicPr>
          <p:cNvPr id="16" name="Image 1" descr="assets/icon_rocke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914" y="4008325"/>
            <a:ext cx="277612" cy="2776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936819"/>
            <a:ext cx="161915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CAF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7899562" y="4494478"/>
            <a:ext cx="3662045" cy="1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100"/>
            </a:lvl1pPr>
          </a:lstStyle>
          <a:p>
            <a:r>
              <a:rPr lang="en-IN" dirty="0">
                <a:solidFill>
                  <a:schemeClr val="bg1"/>
                </a:solidFill>
              </a:rPr>
              <a:t>Continue using a mix of existing hashtags rather than relying on a single "best" hashtag.</a:t>
            </a:r>
          </a:p>
          <a:p>
            <a:r>
              <a:rPr lang="en-IN" dirty="0">
                <a:solidFill>
                  <a:schemeClr val="bg1"/>
                </a:solidFill>
              </a:rPr>
              <a:t>Test new niche and category-specific hashtags to identify opportunities for incremental reach and engagement.</a:t>
            </a:r>
          </a:p>
          <a:p>
            <a:r>
              <a:rPr lang="en-IN" dirty="0">
                <a:solidFill>
                  <a:schemeClr val="bg1"/>
                </a:solidFill>
              </a:rPr>
              <a:t>Focus more on content quality and creative execution, as hashtag selection appears to have limited impact on engagement.</a:t>
            </a:r>
          </a:p>
          <a:p>
            <a:r>
              <a:rPr lang="en-IN" dirty="0">
                <a:solidFill>
                  <a:schemeClr val="bg1"/>
                </a:solidFill>
              </a:rPr>
              <a:t>Refresh hashtag combinations periodically to avoid over-reliance on the same set.</a:t>
            </a:r>
          </a:p>
        </p:txBody>
      </p:sp>
      <p:sp>
        <p:nvSpPr>
          <p:cNvPr id="19" name="Text 14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3F4D12F-F181-8762-BC09-06A23A069D5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 rot="10800000"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Shape 1"/>
          <p:cNvSpPr/>
          <p:nvPr/>
        </p:nvSpPr>
        <p:spPr>
          <a:xfrm>
            <a:off x="548640" y="94743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2A14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94743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2084832" y="94743"/>
            <a:ext cx="149812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C13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DASHBOARD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4048"/>
            <a:ext cx="61507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u="sng" dirty="0">
                <a:solidFill>
                  <a:srgbClr val="2B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Interactive View of Everything Above</a:t>
            </a:r>
            <a:endParaRPr lang="en-US" sz="2500" u="sng" dirty="0"/>
          </a:p>
        </p:txBody>
      </p:sp>
      <p:sp>
        <p:nvSpPr>
          <p:cNvPr id="7" name="Shape 5"/>
          <p:cNvSpPr/>
          <p:nvPr/>
        </p:nvSpPr>
        <p:spPr>
          <a:xfrm>
            <a:off x="548641" y="1050966"/>
            <a:ext cx="9817945" cy="5128914"/>
          </a:xfrm>
          <a:prstGeom prst="roundRect">
            <a:avLst>
              <a:gd name="adj" fmla="val 2890"/>
            </a:avLst>
          </a:prstGeom>
          <a:solidFill>
            <a:srgbClr val="FFFFFF"/>
          </a:solidFill>
          <a:ln w="12700">
            <a:solidFill>
              <a:srgbClr val="ECE3F7"/>
            </a:solidFill>
            <a:prstDash val="solid"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2575560" y="6336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Tableau Public — filterable by Post Type, Month, Campaign Type &amp; Audience Emotion</a:t>
            </a:r>
            <a:endParaRPr lang="en-US" sz="105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9" name="Text 21"/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lang="en-US" sz="9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0" name="Text 22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AD60A5-3308-67B9-2A93-592CF3B42E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568" y="1103264"/>
            <a:ext cx="9676090" cy="50172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0A22">
              <a:alpha val="8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62656" y="4704588"/>
            <a:ext cx="6217920" cy="6217920"/>
          </a:xfrm>
          <a:prstGeom prst="ellipse">
            <a:avLst/>
          </a:prstGeom>
          <a:solidFill>
            <a:srgbClr val="C13584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-2560320"/>
            <a:ext cx="4572000" cy="4572000"/>
          </a:xfrm>
          <a:prstGeom prst="ellipse">
            <a:avLst/>
          </a:prstGeom>
          <a:solidFill>
            <a:srgbClr val="833AB4">
              <a:alpha val="18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20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  ·  INSIGHT + ACTION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548640"/>
            <a:ext cx="2377440" cy="0"/>
          </a:xfrm>
          <a:prstGeom prst="line">
            <a:avLst/>
          </a:prstGeom>
          <a:noFill/>
          <a:ln w="19050">
            <a:solidFill>
              <a:srgbClr val="FCAF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44752"/>
            <a:ext cx="2651760" cy="54864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CAF45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1536192"/>
            <a:ext cx="365760" cy="3657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0" name="Image 0" descr="assets/icon_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827" y="1598371"/>
            <a:ext cx="241402" cy="24140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69848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106984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POSTS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291840" y="1444752"/>
            <a:ext cx="2651760" cy="54864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CAF45">
                <a:alpha val="60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01568" y="1536192"/>
            <a:ext cx="365760" cy="3657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15" name="Image 1" descr="assets/icon_chart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747" y="1598371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858768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18.55%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3"/>
          <p:cNvSpPr txBox="1"/>
          <p:nvPr/>
        </p:nvSpPr>
        <p:spPr>
          <a:xfrm>
            <a:off x="385876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AVG. ENGAGEMENT RATE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6080760" y="1444752"/>
            <a:ext cx="2651760" cy="54864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CAF45">
                <a:alpha val="6000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0488" y="1536192"/>
            <a:ext cx="365760" cy="3657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20" name="Image 2" descr="assets/icon_ey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667" y="1598371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647688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987.42M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664768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TOTAL REACH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8869680" y="1444752"/>
            <a:ext cx="2651760" cy="548640"/>
          </a:xfrm>
          <a:prstGeom prst="roundRect">
            <a:avLst>
              <a:gd name="adj" fmla="val 15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CAF45">
                <a:alpha val="60000"/>
              </a:srgbClr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979408" y="1536192"/>
            <a:ext cx="365760" cy="365760"/>
          </a:xfrm>
          <a:prstGeom prst="ellipse">
            <a:avLst/>
          </a:prstGeom>
          <a:solidFill>
            <a:srgbClr val="C13584"/>
          </a:solidFill>
          <a:ln/>
        </p:spPr>
      </p:sp>
      <p:pic>
        <p:nvPicPr>
          <p:cNvPr id="25" name="Image 3" descr="assets/icon_filt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1587" y="1598371"/>
            <a:ext cx="241402" cy="2414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436608" y="14813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77%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9436608" y="1764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5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→ REACH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2"/>
          <p:cNvSpPr/>
          <p:nvPr/>
        </p:nvSpPr>
        <p:spPr>
          <a:xfrm>
            <a:off x="502920" y="2212848"/>
            <a:ext cx="11201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66928" y="226771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1D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4"/>
          <p:cNvSpPr txBox="1"/>
          <p:nvPr/>
        </p:nvSpPr>
        <p:spPr>
          <a:xfrm>
            <a:off x="1051560" y="22585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is the account's strength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5"/>
          <p:cNvSpPr txBox="1"/>
          <p:nvPr/>
        </p:nvSpPr>
        <p:spPr>
          <a:xfrm>
            <a:off x="1051560" y="255117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50,000 posts over 12 months, steady at 4,100–4,300/month, driving an 18.55% engagement rate across 987M reach.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26"/>
          <p:cNvSpPr txBox="1"/>
          <p:nvPr/>
        </p:nvSpPr>
        <p:spPr>
          <a:xfrm>
            <a:off x="7452360" y="25511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Keep this cadence as the campaign benchmark — don't chase volume.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27"/>
          <p:cNvSpPr/>
          <p:nvPr/>
        </p:nvSpPr>
        <p:spPr>
          <a:xfrm>
            <a:off x="502920" y="3127248"/>
            <a:ext cx="11201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566928" y="318211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1D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1051560" y="31729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format dominates engagement or likes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1051560" y="346557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Top 10 by likes is a near-tie across formats (11,043–11,392, &lt;3% spread); Video appears most in the Top 10 by engagement rate (4 of 10), all clustered 33.8–34.1%.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7452360" y="34655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Don't over-index on format — focus on creative quality, and lean on Video where sustained engagement rate matters most.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2"/>
          <p:cNvSpPr/>
          <p:nvPr/>
        </p:nvSpPr>
        <p:spPr>
          <a:xfrm>
            <a:off x="502920" y="4041648"/>
            <a:ext cx="11201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566928" y="409651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1D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1051560" y="40873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Timing, hashtags &amp; format barely move the needle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5"/>
          <p:cNvSpPr txBox="1"/>
          <p:nvPr/>
        </p:nvSpPr>
        <p:spPr>
          <a:xfrm>
            <a:off x="1051560" y="437997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Day (18.42–18.63%), hashtags (18.52–18.67%) and format (2,941–2,964 avg. likes) all sit within a  1% band.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36"/>
          <p:cNvSpPr txBox="1"/>
          <p:nvPr/>
        </p:nvSpPr>
        <p:spPr>
          <a:xfrm>
            <a:off x="7452360" y="43799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Redirect effort to content quality, not scheduling or tags.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37"/>
          <p:cNvSpPr/>
          <p:nvPr/>
        </p:nvSpPr>
        <p:spPr>
          <a:xfrm>
            <a:off x="502920" y="4956048"/>
            <a:ext cx="11201400" cy="804672"/>
          </a:xfrm>
          <a:prstGeom prst="roundRect">
            <a:avLst>
              <a:gd name="adj" fmla="val 9091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566928" y="5010912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D1D1D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Text 39"/>
          <p:cNvSpPr txBox="1"/>
          <p:nvPr/>
        </p:nvSpPr>
        <p:spPr>
          <a:xfrm>
            <a:off x="1051560" y="5001768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Funnel is healthy, but Shares &amp; Saves lag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0"/>
          <p:cNvSpPr txBox="1"/>
          <p:nvPr/>
        </p:nvSpPr>
        <p:spPr>
          <a:xfrm>
            <a:off x="1051560" y="5294376"/>
            <a:ext cx="6263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4B6DD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77% of 1.28B impressions convert to reach (987M) — but Shares (8.1M) and Saves (8.9M) are the smallest stage.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1"/>
          <p:cNvSpPr txBox="1"/>
          <p:nvPr/>
        </p:nvSpPr>
        <p:spPr>
          <a:xfrm>
            <a:off x="7452360" y="5294376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1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save-worthy, shareable hooks into every content brief.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2"/>
          <p:cNvSpPr/>
          <p:nvPr/>
        </p:nvSpPr>
        <p:spPr>
          <a:xfrm>
            <a:off x="502920" y="5885368"/>
            <a:ext cx="11201400" cy="566928"/>
          </a:xfrm>
          <a:prstGeom prst="roundRect">
            <a:avLst>
              <a:gd name="adj" fmla="val 16129"/>
            </a:avLst>
          </a:prstGeom>
          <a:solidFill>
            <a:srgbClr val="833AB4">
              <a:alpha val="30000"/>
            </a:srgbClr>
          </a:solidFill>
          <a:ln w="12700">
            <a:solidFill>
              <a:srgbClr val="FCAF45"/>
            </a:solidFill>
            <a:prstDash val="solid"/>
          </a:ln>
        </p:spPr>
      </p:sp>
      <p:sp>
        <p:nvSpPr>
          <p:cNvPr id="49" name="Text 43"/>
          <p:cNvSpPr txBox="1"/>
          <p:nvPr/>
        </p:nvSpPr>
        <p:spPr>
          <a:xfrm>
            <a:off x="777240" y="5885368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 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Focus next quarter on content quality and campaign type — not timing, hashtags, or format alone. Use the dashboard as the weekly source of truth.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4"/>
          <p:cNvSpPr txBox="1"/>
          <p:nvPr/>
        </p:nvSpPr>
        <p:spPr>
          <a:xfrm>
            <a:off x="1136873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B9AEC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872CFC8C-1B6F-8266-EF12-FDD1F93349A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 amt="18000"/>
          </a:blip>
          <a:stretch>
            <a:fillRect/>
          </a:stretch>
        </p:blipFill>
        <p:spPr>
          <a:xfrm>
            <a:off x="3546936" y="436104"/>
            <a:ext cx="5598000" cy="5598000"/>
          </a:xfrm>
          <a:prstGeom prst="rect">
            <a:avLst/>
          </a:prstGeom>
        </p:spPr>
      </p:pic>
      <p:sp>
        <p:nvSpPr>
          <p:cNvPr id="58" name="Text 21">
            <a:extLst>
              <a:ext uri="{FF2B5EF4-FFF2-40B4-BE49-F238E27FC236}">
                <a16:creationId xmlns:a16="http://schemas.microsoft.com/office/drawing/2014/main" id="{9BE85ABA-6A57-1D81-B54D-856A30F3A2CF}"/>
              </a:ext>
            </a:extLst>
          </p:cNvPr>
          <p:cNvSpPr txBox="1"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B657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SUGAR COSMETICS  ×  INSTAGRAM ANALYTICS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02920" y="658368"/>
            <a:ext cx="11201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 is consistent everywhere except where it counts. </a:t>
            </a:r>
            <a:r>
              <a:rPr kumimoji="0" lang="en-US" sz="1850" b="1" i="0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Sharpen the content format mix, </a:t>
            </a:r>
            <a:br>
              <a:rPr kumimoji="0" lang="en-US" sz="1850" b="1" i="0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</a:br>
            <a:r>
              <a:rPr kumimoji="0" lang="en-US" sz="1850" b="1" i="0" u="none" strike="noStrike" kern="1200" cap="none" spc="0" normalizeH="0" baseline="0" noProof="0" dirty="0">
                <a:ln>
                  <a:noFill/>
                </a:ln>
                <a:solidFill>
                  <a:srgbClr val="FCAF45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and then fix the funnel's weakest stage — Shares &amp; Saves.</a:t>
            </a:r>
            <a:endParaRPr kumimoji="0" lang="en-US" sz="1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0A7902E8-E53F-A1F6-BF84-2FFAAAE5E40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3296486" y="629486"/>
            <a:ext cx="5599028" cy="559902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9326880" y="-2286000"/>
            <a:ext cx="5029200" cy="50292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468880"/>
            <a:ext cx="312039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291840"/>
            <a:ext cx="333946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600" dirty="0"/>
          </a:p>
        </p:txBody>
      </p:sp>
      <p:pic>
        <p:nvPicPr>
          <p:cNvPr id="7" name="Image 0" descr="assets/icon_heart_white.png"/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>
            <a:off x="822960" y="6035040"/>
            <a:ext cx="347472" cy="347472"/>
          </a:xfrm>
          <a:prstGeom prst="rect">
            <a:avLst/>
          </a:prstGeom>
        </p:spPr>
      </p:pic>
      <p:pic>
        <p:nvPicPr>
          <p:cNvPr id="8" name="Image 1" descr="assets/icon_comment_white.png"/>
          <p:cNvPicPr>
            <a:picLocks noChangeAspect="1"/>
          </p:cNvPicPr>
          <p:nvPr/>
        </p:nvPicPr>
        <p:blipFill>
          <a:blip r:embed="rId6">
            <a:alphaModFix amt="45000"/>
          </a:blip>
          <a:stretch>
            <a:fillRect/>
          </a:stretch>
        </p:blipFill>
        <p:spPr>
          <a:xfrm>
            <a:off x="1463040" y="6035040"/>
            <a:ext cx="347472" cy="347472"/>
          </a:xfrm>
          <a:prstGeom prst="rect">
            <a:avLst/>
          </a:prstGeom>
        </p:spPr>
      </p:pic>
      <p:pic>
        <p:nvPicPr>
          <p:cNvPr id="9" name="Image 2" descr="assets/icon_share_white.png"/>
          <p:cNvPicPr>
            <a:picLocks noChangeAspect="1"/>
          </p:cNvPicPr>
          <p:nvPr/>
        </p:nvPicPr>
        <p:blipFill>
          <a:blip r:embed="rId7">
            <a:alphaModFix amt="45000"/>
          </a:blip>
          <a:stretch>
            <a:fillRect/>
          </a:stretch>
        </p:blipFill>
        <p:spPr>
          <a:xfrm>
            <a:off x="2103120" y="6035040"/>
            <a:ext cx="347472" cy="347472"/>
          </a:xfrm>
          <a:prstGeom prst="rect">
            <a:avLst/>
          </a:prstGeom>
        </p:spPr>
      </p:pic>
      <p:pic>
        <p:nvPicPr>
          <p:cNvPr id="10" name="Image 3" descr="assets/icon_bookmark_white.png"/>
          <p:cNvPicPr>
            <a:picLocks noChangeAspect="1"/>
          </p:cNvPicPr>
          <p:nvPr/>
        </p:nvPicPr>
        <p:blipFill>
          <a:blip r:embed="rId8">
            <a:alphaModFix amt="45000"/>
          </a:blip>
          <a:stretch>
            <a:fillRect/>
          </a:stretch>
        </p:blipFill>
        <p:spPr>
          <a:xfrm>
            <a:off x="2743200" y="6035040"/>
            <a:ext cx="347472" cy="347472"/>
          </a:xfrm>
          <a:prstGeom prst="rect">
            <a:avLst/>
          </a:prstGeom>
        </p:spPr>
      </p:pic>
      <p:pic>
        <p:nvPicPr>
          <p:cNvPr id="11" name="Image 4" descr="assets/icon_eye_white.png"/>
          <p:cNvPicPr>
            <a:picLocks noChangeAspect="1"/>
          </p:cNvPicPr>
          <p:nvPr/>
        </p:nvPicPr>
        <p:blipFill>
          <a:blip r:embed="rId9">
            <a:alphaModFix amt="45000"/>
          </a:blip>
          <a:stretch>
            <a:fillRect/>
          </a:stretch>
        </p:blipFill>
        <p:spPr>
          <a:xfrm>
            <a:off x="3383280" y="6035040"/>
            <a:ext cx="347472" cy="347472"/>
          </a:xfrm>
          <a:prstGeom prst="rect">
            <a:avLst/>
          </a:prstGeom>
        </p:spPr>
      </p:pic>
      <p:sp>
        <p:nvSpPr>
          <p:cNvPr id="6" name="Text 4"/>
          <p:cNvSpPr txBox="1"/>
          <p:nvPr/>
        </p:nvSpPr>
        <p:spPr>
          <a:xfrm>
            <a:off x="822960" y="43434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interactive dashboard  </a:t>
            </a:r>
            <a:r>
              <a:rPr lang="en-US" sz="1300" dirty="0">
                <a:solidFill>
                  <a:srgbClr val="E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on Tableau Public
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 </a:t>
            </a:r>
            <a:r>
              <a:rPr lang="en-US" sz="1300" dirty="0">
                <a:solidFill>
                  <a:srgbClr val="E7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sugar_cosmetics_instagram_data (50,000 posts, Apr 2024–Apr 2025)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1768</TotalTime>
  <Words>1745</Words>
  <Application>Microsoft Office PowerPoint</Application>
  <PresentationFormat>Widescreen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Hariharan Reddy R</cp:lastModifiedBy>
  <cp:revision>14</cp:revision>
  <dcterms:created xsi:type="dcterms:W3CDTF">2026-09-17T07:04:50Z</dcterms:created>
  <dcterms:modified xsi:type="dcterms:W3CDTF">2026-09-19T15:31:53Z</dcterms:modified>
</cp:coreProperties>
</file>